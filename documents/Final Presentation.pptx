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e Vietnam" charset="1" panose="00000500000000000000"/>
      <p:regular r:id="rId26"/>
    </p:embeddedFont>
    <p:embeddedFont>
      <p:font typeface="Be Vietnam Ultra-Bold" charset="1" panose="00000900000000000000"/>
      <p:regular r:id="rId27"/>
    </p:embeddedFont>
    <p:embeddedFont>
      <p:font typeface="IBM Plex Sans" charset="1" panose="020B0503050203000203"/>
      <p:regular r:id="rId28"/>
    </p:embeddedFont>
    <p:embeddedFont>
      <p:font typeface="IBM Plex Sans Bold" charset="1" panose="020B0803050203000203"/>
      <p:regular r:id="rId29"/>
    </p:embeddedFont>
    <p:embeddedFont>
      <p:font typeface="Arimo" charset="1" panose="020B0604020202020204"/>
      <p:regular r:id="rId30"/>
    </p:embeddedFont>
    <p:embeddedFont>
      <p:font typeface="IBM Plex Sans Italics" charset="1" panose="020B05030502030002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https://github.com/qperkins33/Residential-Maintenance-Management-System/tree/main/diagrams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https://github.com/qperkins33/Residential-Maintenance-Management-System.gi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4226452" y="2785792"/>
            <a:ext cx="16909587" cy="6118196"/>
          </a:xfrm>
          <a:custGeom>
            <a:avLst/>
            <a:gdLst/>
            <a:ahLst/>
            <a:cxnLst/>
            <a:rect r="r" b="b" t="t" l="l"/>
            <a:pathLst>
              <a:path h="6118196" w="16909587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20878"/>
            <a:ext cx="11078006" cy="50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3"/>
              </a:lnSpc>
            </a:pPr>
            <a:r>
              <a:rPr lang="en-US" sz="9634">
                <a:solidFill>
                  <a:srgbClr val="F8F8F8"/>
                </a:solidFill>
                <a:latin typeface="Be Vietnam"/>
                <a:ea typeface="Be Vietnam"/>
                <a:cs typeface="Be Vietnam"/>
                <a:sym typeface="Be Vietnam"/>
              </a:rPr>
              <a:t>RESIDENTIAL MAINTENANCE MANAGEMENT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934312" y="5503677"/>
            <a:ext cx="4842473" cy="6972360"/>
            <a:chOff x="0" y="0"/>
            <a:chExt cx="6456630" cy="9296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89577" y="-28575"/>
              <a:ext cx="5367053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231"/>
                </a:lnSpc>
                <a:spcBef>
                  <a:spcPct val="0"/>
                </a:spcBef>
              </a:pPr>
              <a:r>
                <a:rPr lang="en-US" b="true" sz="2485" spc="216" u="none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PRESENTED BY: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81120"/>
              <a:ext cx="6456630" cy="3259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903"/>
                </a:lnSpc>
              </a:pPr>
              <a:r>
                <a:rPr lang="en-US" sz="3502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Quin Perkins</a:t>
              </a:r>
            </a:p>
            <a:p>
              <a:pPr algn="r">
                <a:lnSpc>
                  <a:spcPts val="4903"/>
                </a:lnSpc>
              </a:pPr>
              <a:r>
                <a:rPr lang="en-US" sz="3502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Sandip Poudel </a:t>
              </a:r>
            </a:p>
            <a:p>
              <a:pPr algn="r">
                <a:lnSpc>
                  <a:spcPts val="4903"/>
                </a:lnSpc>
              </a:pPr>
              <a:r>
                <a:rPr lang="en-US" sz="3502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Tristan Kras</a:t>
              </a:r>
            </a:p>
            <a:p>
              <a:pPr algn="r">
                <a:lnSpc>
                  <a:spcPts val="4903"/>
                </a:lnSpc>
              </a:pPr>
              <a:r>
                <a:rPr lang="en-US" sz="3502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Bethlehem Tewodros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89577" y="8709280"/>
              <a:ext cx="5367053" cy="58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96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89577" y="6216062"/>
              <a:ext cx="5367053" cy="531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23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677910"/>
            <a:ext cx="66319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8F8F8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Iteration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3305" y="223722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20194" y="2354112"/>
            <a:ext cx="904331" cy="9043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03305" y="401053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20194" y="4127427"/>
            <a:ext cx="904331" cy="9043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03305" y="578385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20194" y="5900742"/>
            <a:ext cx="904331" cy="9043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03305" y="755716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120194" y="7674057"/>
            <a:ext cx="904331" cy="9043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323125"/>
            <a:ext cx="413201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Project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58045" y="2288704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Property maintenance request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58045" y="4062019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built with Java 21, JavaFX, SQL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8045" y="6074182"/>
            <a:ext cx="4035840" cy="46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Agile Scrum Methodology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8045" y="7610095"/>
            <a:ext cx="7232612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Three-tier architecture layers</a:t>
            </a:r>
          </a:p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(presentation, business logic, data access)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3305" y="223722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20194" y="2354112"/>
            <a:ext cx="904331" cy="9043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03305" y="401053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20194" y="4127427"/>
            <a:ext cx="904331" cy="9043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03305" y="578385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120194" y="5900742"/>
            <a:ext cx="904331" cy="9043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003305" y="755716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120194" y="7674057"/>
            <a:ext cx="904331" cy="9043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323125"/>
            <a:ext cx="519050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Iteration 4 Goals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58045" y="2526829"/>
            <a:ext cx="6321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Notification System(email alerts)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58045" y="4300144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Admin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8045" y="5835334"/>
            <a:ext cx="5539245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Photo upload capability for maintenance tickets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58045" y="7610095"/>
            <a:ext cx="5209732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Staff update with resolution text box in tickets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4213" y="2502813"/>
            <a:ext cx="5845320" cy="3653325"/>
          </a:xfrm>
          <a:custGeom>
            <a:avLst/>
            <a:gdLst/>
            <a:ahLst/>
            <a:cxnLst/>
            <a:rect r="r" b="b" t="t" l="l"/>
            <a:pathLst>
              <a:path h="3653325" w="5845320">
                <a:moveTo>
                  <a:pt x="0" y="0"/>
                </a:moveTo>
                <a:lnTo>
                  <a:pt x="5845320" y="0"/>
                </a:lnTo>
                <a:lnTo>
                  <a:pt x="584532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9533" y="2502813"/>
            <a:ext cx="5845320" cy="3653325"/>
          </a:xfrm>
          <a:custGeom>
            <a:avLst/>
            <a:gdLst/>
            <a:ahLst/>
            <a:cxnLst/>
            <a:rect r="r" b="b" t="t" l="l"/>
            <a:pathLst>
              <a:path h="3653325" w="5845320">
                <a:moveTo>
                  <a:pt x="0" y="0"/>
                </a:moveTo>
                <a:lnTo>
                  <a:pt x="5845320" y="0"/>
                </a:lnTo>
                <a:lnTo>
                  <a:pt x="584532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2790" y="6156138"/>
            <a:ext cx="5845320" cy="3653325"/>
          </a:xfrm>
          <a:custGeom>
            <a:avLst/>
            <a:gdLst/>
            <a:ahLst/>
            <a:cxnLst/>
            <a:rect r="r" b="b" t="t" l="l"/>
            <a:pathLst>
              <a:path h="3653325" w="5845320">
                <a:moveTo>
                  <a:pt x="0" y="0"/>
                </a:moveTo>
                <a:lnTo>
                  <a:pt x="5845320" y="0"/>
                </a:lnTo>
                <a:lnTo>
                  <a:pt x="584532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8110" y="6156138"/>
            <a:ext cx="5845320" cy="3653325"/>
          </a:xfrm>
          <a:custGeom>
            <a:avLst/>
            <a:gdLst/>
            <a:ahLst/>
            <a:cxnLst/>
            <a:rect r="r" b="b" t="t" l="l"/>
            <a:pathLst>
              <a:path h="3653325" w="5845320">
                <a:moveTo>
                  <a:pt x="0" y="0"/>
                </a:moveTo>
                <a:lnTo>
                  <a:pt x="5845320" y="0"/>
                </a:lnTo>
                <a:lnTo>
                  <a:pt x="584532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3430" y="6156138"/>
            <a:ext cx="5845320" cy="3653325"/>
          </a:xfrm>
          <a:custGeom>
            <a:avLst/>
            <a:gdLst/>
            <a:ahLst/>
            <a:cxnLst/>
            <a:rect r="r" b="b" t="t" l="l"/>
            <a:pathLst>
              <a:path h="3653325" w="5845320">
                <a:moveTo>
                  <a:pt x="0" y="0"/>
                </a:moveTo>
                <a:lnTo>
                  <a:pt x="5845320" y="0"/>
                </a:lnTo>
                <a:lnTo>
                  <a:pt x="5845320" y="3653325"/>
                </a:lnTo>
                <a:lnTo>
                  <a:pt x="0" y="3653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664" y="133376"/>
            <a:ext cx="1888842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UI: Login, Tenant, Staff, Manager, Admin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1276334"/>
            <a:ext cx="6541463" cy="2024330"/>
            <a:chOff x="0" y="0"/>
            <a:chExt cx="8721951" cy="2699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1431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Final Features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763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3961788"/>
            <a:ext cx="4035840" cy="141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Unique tenant, staff, manager, and admin dashboards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6211353"/>
            <a:ext cx="4623752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 notification feature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438761"/>
            <a:ext cx="4642124" cy="46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Photo upload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Synchonized request tickets via datbase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742704" y="76980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859594" y="7814920"/>
            <a:ext cx="904331" cy="90433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497445" y="7987637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Archive request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45399" y="76980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62288" y="7814920"/>
            <a:ext cx="904331" cy="90433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900139" y="7749512"/>
            <a:ext cx="462375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Staff updates (automatically sends email)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Tenant</a:t>
              </a: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Dashboard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438038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 new requests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62375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View and edit requests (name, decription, status)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642124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layout for easier overview (status color)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621135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 request stats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Staff</a:t>
              </a: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Dashboard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438038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Resolve requests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62375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Update tenants (notifies tenant via email)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642124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layout for easier overview (status color)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621135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 request stats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Manager</a:t>
              </a: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Dashboard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438038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Assign requests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6211353"/>
            <a:ext cx="4623752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Reassign requests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642124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layout for easier overview (status color)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 request stats focus on staff efficiency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Admin Dashboard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199913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Admin users can edit user information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62375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Admin users can edit account status(active/deactive)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642124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layout for easier user management overview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621135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stats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Email Notifications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199913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Sends email when ticket status changes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621135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Keeps tenants informed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035840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Reduces back and forth communication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9939" y="6003825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 and free to implement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1276334"/>
            <a:ext cx="6541463" cy="2024330"/>
            <a:chOff x="0" y="0"/>
            <a:chExt cx="8721951" cy="2699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1431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Staff Update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763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199913"/>
            <a:ext cx="502794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“Staff Update” text box so staff can document progress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“Resolution” text box for documenting final fixes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5046314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request detail view to support clearer communication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Automatically send email to tenant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1276334"/>
            <a:ext cx="6541463" cy="2024330"/>
            <a:chOff x="0" y="0"/>
            <a:chExt cx="8721951" cy="2699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1431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b="true" sz="7000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Photo Upload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763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4199913"/>
            <a:ext cx="5027942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Both tenants and staff can attach pictures to tickets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Staff can access images in tickets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4201358"/>
            <a:ext cx="4035840" cy="93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Helps diagnose issues faster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621135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Stored in database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3904">
            <a:off x="-940728" y="8061713"/>
            <a:ext cx="10103966" cy="8156656"/>
          </a:xfrm>
          <a:custGeom>
            <a:avLst/>
            <a:gdLst/>
            <a:ahLst/>
            <a:cxnLst/>
            <a:rect r="r" b="b" t="t" l="l"/>
            <a:pathLst>
              <a:path h="8156656" w="1010396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9958" y="742934"/>
            <a:ext cx="6541463" cy="3091130"/>
            <a:chOff x="0" y="0"/>
            <a:chExt cx="8721951" cy="41215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8721951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Archive Request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498784"/>
              <a:ext cx="684966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159446">
            <a:off x="13111917" y="-3539846"/>
            <a:ext cx="7814506" cy="6308438"/>
          </a:xfrm>
          <a:custGeom>
            <a:avLst/>
            <a:gdLst/>
            <a:ahLst/>
            <a:cxnLst/>
            <a:rect r="r" b="b" t="t" l="l"/>
            <a:pathLst>
              <a:path h="6308438" w="7814506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5399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2288" y="4265320"/>
            <a:ext cx="904331" cy="9043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45399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2288" y="6038636"/>
            <a:ext cx="904331" cy="9043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42704" y="4148431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859594" y="4265320"/>
            <a:ext cx="904331" cy="90433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42704" y="592174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10" y="0"/>
                </a:lnTo>
                <a:lnTo>
                  <a:pt x="1138110" y="1138110"/>
                </a:lnTo>
                <a:lnTo>
                  <a:pt x="0" y="1138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859594" y="6038636"/>
            <a:ext cx="904331" cy="9043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00139" y="3723663"/>
            <a:ext cx="5027942" cy="189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Tenant and staff can each archive a completed or cancelled request on their dashboard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00139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Automatically unarchived if reopenned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7445" y="3963956"/>
            <a:ext cx="4035840" cy="141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Cleans up dashboard without compromising information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97445" y="597322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Archive status stored in database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301940">
            <a:off x="-2976647" y="6044703"/>
            <a:ext cx="7092618" cy="4797189"/>
          </a:xfrm>
          <a:custGeom>
            <a:avLst/>
            <a:gdLst/>
            <a:ahLst/>
            <a:cxnLst/>
            <a:rect r="r" b="b" t="t" l="l"/>
            <a:pathLst>
              <a:path h="4797189" w="7092618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43614" y="2901123"/>
            <a:ext cx="3470237" cy="5422245"/>
          </a:xfrm>
          <a:custGeom>
            <a:avLst/>
            <a:gdLst/>
            <a:ahLst/>
            <a:cxnLst/>
            <a:rect r="r" b="b" t="t" l="l"/>
            <a:pathLst>
              <a:path h="5422245" w="3470237">
                <a:moveTo>
                  <a:pt x="0" y="0"/>
                </a:moveTo>
                <a:lnTo>
                  <a:pt x="3470236" y="0"/>
                </a:lnTo>
                <a:lnTo>
                  <a:pt x="3470236" y="5422244"/>
                </a:lnTo>
                <a:lnTo>
                  <a:pt x="0" y="5422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567691" y="467864"/>
            <a:ext cx="8882207" cy="2727909"/>
            <a:chOff x="0" y="0"/>
            <a:chExt cx="11842943" cy="36372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1842943" cy="151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83"/>
                </a:lnSpc>
              </a:pPr>
              <a:r>
                <a:rPr lang="en-US" b="true" sz="7486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DIAGRAMS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984750"/>
              <a:ext cx="7325181" cy="652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9092" y="2951200"/>
            <a:ext cx="6971885" cy="457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5941" indent="-472971" lvl="1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UML</a:t>
            </a:r>
          </a:p>
          <a:p>
            <a:pPr algn="l" marL="945941" indent="-472971" lvl="1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Activity</a:t>
            </a:r>
          </a:p>
          <a:p>
            <a:pPr algn="l" marL="945941" indent="-472971" lvl="1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</a:t>
            </a:r>
          </a:p>
          <a:p>
            <a:pPr algn="l" marL="945941" indent="-472971" lvl="1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Entity Relationship</a:t>
            </a:r>
          </a:p>
          <a:p>
            <a:pPr algn="l" marL="945941" indent="-472971" lvl="1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Sequence</a:t>
            </a:r>
          </a:p>
          <a:p>
            <a:pPr algn="l" marL="945941" indent="-472971" lvl="1">
              <a:lnSpc>
                <a:spcPts val="6133"/>
              </a:lnSpc>
              <a:spcBef>
                <a:spcPct val="0"/>
              </a:spcBef>
              <a:buFont typeface="Arial"/>
              <a:buChar char="•"/>
            </a:pPr>
            <a:r>
              <a:rPr lang="en-US" sz="438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Case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9189" y="2815398"/>
            <a:ext cx="5700709" cy="230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3263" u="sng">
                <a:solidFill>
                  <a:srgbClr val="FEFEFE"/>
                </a:solidFill>
                <a:latin typeface="Arimo"/>
                <a:ea typeface="Arimo"/>
                <a:cs typeface="Arimo"/>
                <a:sym typeface="Arimo"/>
                <a:hlinkClick r:id="rId6" tooltip="https://github.com/qperkins33/Residential-Maintenance-Management-System/tree/main/diagrams"/>
              </a:rPr>
              <a:t>https://github.com/qperkins33/Residential-Maintenance-Management-System/tree/main/diagrams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77" y="6915879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69958" y="485775"/>
            <a:ext cx="81153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Technical Architecture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56756" y="3366280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73645" y="3483169"/>
            <a:ext cx="904331" cy="9043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56756" y="5139595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73645" y="5256484"/>
            <a:ext cx="904331" cy="9043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856756" y="7030179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973645" y="7147068"/>
            <a:ext cx="904331" cy="9043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611496" y="3417761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Programming language:</a:t>
            </a: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 Java 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1496" y="5191076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UI Framework: 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JavaFX with FXML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11496" y="7081660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Styling: 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CSS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523775" y="7030179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640664" y="7147068"/>
            <a:ext cx="904331" cy="90433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278515" y="7081660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Methodology: 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Agile Scrum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523775" y="3366280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640664" y="3483169"/>
            <a:ext cx="904331" cy="90433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523775" y="5139595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640664" y="5256484"/>
            <a:ext cx="904331" cy="90433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278515" y="3417761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Database: 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with JDBC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78515" y="5191076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 i="true">
                <a:solidFill>
                  <a:srgbClr val="01003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Testing: 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JUint, TestFX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1935" y="7485566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69958" y="485775"/>
            <a:ext cx="81153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Challenges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574927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5589" y="2691816"/>
            <a:ext cx="904331" cy="9043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4348242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5589" y="4465131"/>
            <a:ext cx="904331" cy="9043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6238826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45589" y="6355715"/>
            <a:ext cx="904331" cy="9043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783440" y="2626408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Handling large image uploads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83440" y="4399723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Syncing notifications across all dashboards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83440" y="6290307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 notification triggers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983082" y="6347457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99971" y="6464346"/>
            <a:ext cx="904331" cy="90433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37822" y="6637063"/>
            <a:ext cx="4035840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 email feature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983082" y="268355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099971" y="2800447"/>
            <a:ext cx="904331" cy="90433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983082" y="445687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099971" y="4573762"/>
            <a:ext cx="904331" cy="90433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737822" y="2258789"/>
            <a:ext cx="4035840" cy="189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 uploaded images in the database and only display image when clicks ‘view’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09081" y="4508354"/>
            <a:ext cx="5629519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Refresh from the database before interacting with any request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72700" y="485775"/>
            <a:ext cx="81153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Solutions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9327" y="2666418"/>
            <a:ext cx="2464054" cy="1002783"/>
            <a:chOff x="0" y="0"/>
            <a:chExt cx="989506" cy="4026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9506" cy="402694"/>
            </a:xfrm>
            <a:custGeom>
              <a:avLst/>
              <a:gdLst/>
              <a:ahLst/>
              <a:cxnLst/>
              <a:rect r="r" b="b" t="t" l="l"/>
              <a:pathLst>
                <a:path h="402694" w="989506">
                  <a:moveTo>
                    <a:pt x="125678" y="0"/>
                  </a:moveTo>
                  <a:lnTo>
                    <a:pt x="863828" y="0"/>
                  </a:lnTo>
                  <a:cubicBezTo>
                    <a:pt x="933238" y="0"/>
                    <a:pt x="989506" y="56268"/>
                    <a:pt x="989506" y="125678"/>
                  </a:cubicBezTo>
                  <a:lnTo>
                    <a:pt x="989506" y="277016"/>
                  </a:lnTo>
                  <a:cubicBezTo>
                    <a:pt x="989506" y="346426"/>
                    <a:pt x="933238" y="402694"/>
                    <a:pt x="863828" y="402694"/>
                  </a:cubicBezTo>
                  <a:lnTo>
                    <a:pt x="125678" y="402694"/>
                  </a:lnTo>
                  <a:cubicBezTo>
                    <a:pt x="56268" y="402694"/>
                    <a:pt x="0" y="346426"/>
                    <a:pt x="0" y="277016"/>
                  </a:cubicBezTo>
                  <a:lnTo>
                    <a:pt x="0" y="125678"/>
                  </a:lnTo>
                  <a:cubicBezTo>
                    <a:pt x="0" y="56268"/>
                    <a:pt x="56268" y="0"/>
                    <a:pt x="125678" y="0"/>
                  </a:cubicBezTo>
                  <a:close/>
                </a:path>
              </a:pathLst>
            </a:custGeom>
            <a:solidFill>
              <a:srgbClr val="FF00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9506" cy="459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0046" y="2666418"/>
            <a:ext cx="2451560" cy="1002783"/>
            <a:chOff x="0" y="0"/>
            <a:chExt cx="984489" cy="4026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4489" cy="402694"/>
            </a:xfrm>
            <a:custGeom>
              <a:avLst/>
              <a:gdLst/>
              <a:ahLst/>
              <a:cxnLst/>
              <a:rect r="r" b="b" t="t" l="l"/>
              <a:pathLst>
                <a:path h="402694" w="984489">
                  <a:moveTo>
                    <a:pt x="126318" y="0"/>
                  </a:moveTo>
                  <a:lnTo>
                    <a:pt x="858170" y="0"/>
                  </a:lnTo>
                  <a:cubicBezTo>
                    <a:pt x="891672" y="0"/>
                    <a:pt x="923802" y="13308"/>
                    <a:pt x="947491" y="36998"/>
                  </a:cubicBezTo>
                  <a:cubicBezTo>
                    <a:pt x="971180" y="60687"/>
                    <a:pt x="984489" y="92817"/>
                    <a:pt x="984489" y="126318"/>
                  </a:cubicBezTo>
                  <a:lnTo>
                    <a:pt x="984489" y="276376"/>
                  </a:lnTo>
                  <a:cubicBezTo>
                    <a:pt x="984489" y="309877"/>
                    <a:pt x="971180" y="342007"/>
                    <a:pt x="947491" y="365696"/>
                  </a:cubicBezTo>
                  <a:cubicBezTo>
                    <a:pt x="923802" y="389386"/>
                    <a:pt x="891672" y="402694"/>
                    <a:pt x="858170" y="402694"/>
                  </a:cubicBezTo>
                  <a:lnTo>
                    <a:pt x="126318" y="402694"/>
                  </a:lnTo>
                  <a:cubicBezTo>
                    <a:pt x="92817" y="402694"/>
                    <a:pt x="60687" y="389386"/>
                    <a:pt x="36998" y="365696"/>
                  </a:cubicBezTo>
                  <a:cubicBezTo>
                    <a:pt x="13308" y="342007"/>
                    <a:pt x="0" y="309877"/>
                    <a:pt x="0" y="276376"/>
                  </a:cubicBezTo>
                  <a:lnTo>
                    <a:pt x="0" y="126318"/>
                  </a:lnTo>
                  <a:cubicBezTo>
                    <a:pt x="0" y="92817"/>
                    <a:pt x="13308" y="60687"/>
                    <a:pt x="36998" y="36998"/>
                  </a:cubicBezTo>
                  <a:cubicBezTo>
                    <a:pt x="60687" y="13308"/>
                    <a:pt x="92817" y="0"/>
                    <a:pt x="126318" y="0"/>
                  </a:cubicBezTo>
                  <a:close/>
                </a:path>
              </a:pathLst>
            </a:custGeom>
            <a:solidFill>
              <a:srgbClr val="266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84489" cy="459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14627" y="2666418"/>
            <a:ext cx="2444673" cy="1007482"/>
            <a:chOff x="0" y="0"/>
            <a:chExt cx="981723" cy="404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1723" cy="404581"/>
            </a:xfrm>
            <a:custGeom>
              <a:avLst/>
              <a:gdLst/>
              <a:ahLst/>
              <a:cxnLst/>
              <a:rect r="r" b="b" t="t" l="l"/>
              <a:pathLst>
                <a:path h="404581" w="981723">
                  <a:moveTo>
                    <a:pt x="126674" y="0"/>
                  </a:moveTo>
                  <a:lnTo>
                    <a:pt x="855049" y="0"/>
                  </a:lnTo>
                  <a:cubicBezTo>
                    <a:pt x="925009" y="0"/>
                    <a:pt x="981723" y="56714"/>
                    <a:pt x="981723" y="126674"/>
                  </a:cubicBezTo>
                  <a:lnTo>
                    <a:pt x="981723" y="277907"/>
                  </a:lnTo>
                  <a:cubicBezTo>
                    <a:pt x="981723" y="311503"/>
                    <a:pt x="968377" y="343723"/>
                    <a:pt x="944621" y="367479"/>
                  </a:cubicBezTo>
                  <a:cubicBezTo>
                    <a:pt x="920865" y="391235"/>
                    <a:pt x="888645" y="404581"/>
                    <a:pt x="855049" y="404581"/>
                  </a:cubicBezTo>
                  <a:lnTo>
                    <a:pt x="126674" y="404581"/>
                  </a:lnTo>
                  <a:cubicBezTo>
                    <a:pt x="93078" y="404581"/>
                    <a:pt x="60858" y="391235"/>
                    <a:pt x="37102" y="367479"/>
                  </a:cubicBezTo>
                  <a:cubicBezTo>
                    <a:pt x="13346" y="343723"/>
                    <a:pt x="0" y="311503"/>
                    <a:pt x="0" y="277907"/>
                  </a:cubicBezTo>
                  <a:lnTo>
                    <a:pt x="0" y="126674"/>
                  </a:lnTo>
                  <a:cubicBezTo>
                    <a:pt x="0" y="93078"/>
                    <a:pt x="13346" y="60858"/>
                    <a:pt x="37102" y="37102"/>
                  </a:cubicBezTo>
                  <a:cubicBezTo>
                    <a:pt x="60858" y="13346"/>
                    <a:pt x="93078" y="0"/>
                    <a:pt x="126674" y="0"/>
                  </a:cubicBezTo>
                  <a:close/>
                </a:path>
              </a:pathLst>
            </a:custGeom>
            <a:solidFill>
              <a:srgbClr val="266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81723" cy="461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28781" y="2666418"/>
            <a:ext cx="2441515" cy="1004090"/>
            <a:chOff x="0" y="0"/>
            <a:chExt cx="980455" cy="403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0455" cy="403219"/>
            </a:xfrm>
            <a:custGeom>
              <a:avLst/>
              <a:gdLst/>
              <a:ahLst/>
              <a:cxnLst/>
              <a:rect r="r" b="b" t="t" l="l"/>
              <a:pathLst>
                <a:path h="403219" w="980455">
                  <a:moveTo>
                    <a:pt x="126838" y="0"/>
                  </a:moveTo>
                  <a:lnTo>
                    <a:pt x="853617" y="0"/>
                  </a:lnTo>
                  <a:cubicBezTo>
                    <a:pt x="887256" y="0"/>
                    <a:pt x="919518" y="13363"/>
                    <a:pt x="943305" y="37150"/>
                  </a:cubicBezTo>
                  <a:cubicBezTo>
                    <a:pt x="967091" y="60937"/>
                    <a:pt x="980455" y="93198"/>
                    <a:pt x="980455" y="126838"/>
                  </a:cubicBezTo>
                  <a:lnTo>
                    <a:pt x="980455" y="276381"/>
                  </a:lnTo>
                  <a:cubicBezTo>
                    <a:pt x="980455" y="346431"/>
                    <a:pt x="923667" y="403219"/>
                    <a:pt x="853617" y="403219"/>
                  </a:cubicBezTo>
                  <a:lnTo>
                    <a:pt x="126838" y="403219"/>
                  </a:lnTo>
                  <a:cubicBezTo>
                    <a:pt x="56787" y="403219"/>
                    <a:pt x="0" y="346431"/>
                    <a:pt x="0" y="276381"/>
                  </a:cubicBezTo>
                  <a:lnTo>
                    <a:pt x="0" y="126838"/>
                  </a:lnTo>
                  <a:cubicBezTo>
                    <a:pt x="0" y="56787"/>
                    <a:pt x="56787" y="0"/>
                    <a:pt x="126838" y="0"/>
                  </a:cubicBezTo>
                  <a:close/>
                </a:path>
              </a:pathLst>
            </a:custGeom>
            <a:solidFill>
              <a:srgbClr val="FF007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80455" cy="460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Sprint 3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931354" y="3669201"/>
            <a:ext cx="1697" cy="2977061"/>
          </a:xfrm>
          <a:prstGeom prst="line">
            <a:avLst/>
          </a:prstGeom>
          <a:ln cap="flat" w="9525">
            <a:solidFill>
              <a:srgbClr val="010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0642527" y="3669201"/>
            <a:ext cx="3299" cy="2977067"/>
          </a:xfrm>
          <a:prstGeom prst="line">
            <a:avLst/>
          </a:prstGeom>
          <a:ln cap="flat" w="9525">
            <a:solidFill>
              <a:srgbClr val="010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349539" y="3670508"/>
            <a:ext cx="9525" cy="2975755"/>
          </a:xfrm>
          <a:prstGeom prst="line">
            <a:avLst/>
          </a:prstGeom>
          <a:ln cap="flat" w="9525">
            <a:solidFill>
              <a:srgbClr val="010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846245" y="6598638"/>
            <a:ext cx="2173612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Tenant, Staff, Manager Dashboards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Photo upload functionality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5721" y="6598643"/>
            <a:ext cx="217361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Admin Dashboard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72257" y="6598638"/>
            <a:ext cx="217361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Staff update feature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79270" y="6598638"/>
            <a:ext cx="2173612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notification system(email alerts)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6036963" y="3673900"/>
            <a:ext cx="24235" cy="2972362"/>
          </a:xfrm>
          <a:prstGeom prst="line">
            <a:avLst/>
          </a:prstGeom>
          <a:ln cap="flat" w="9525">
            <a:solidFill>
              <a:srgbClr val="010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578523" y="9100774"/>
            <a:ext cx="2514814" cy="272415"/>
            <a:chOff x="0" y="0"/>
            <a:chExt cx="3353085" cy="363220"/>
          </a:xfrm>
        </p:grpSpPr>
        <p:sp>
          <p:nvSpPr>
            <p:cNvPr name="Freeform 23" id="23"/>
            <p:cNvSpPr/>
            <p:nvPr/>
          </p:nvSpPr>
          <p:spPr>
            <a:xfrm flipH="true" flipV="false" rot="0">
              <a:off x="3172573" y="31874"/>
              <a:ext cx="180511" cy="299604"/>
            </a:xfrm>
            <a:custGeom>
              <a:avLst/>
              <a:gdLst/>
              <a:ahLst/>
              <a:cxnLst/>
              <a:rect r="r" b="b" t="t" l="l"/>
              <a:pathLst>
                <a:path h="299604" w="180511">
                  <a:moveTo>
                    <a:pt x="180512" y="0"/>
                  </a:moveTo>
                  <a:lnTo>
                    <a:pt x="0" y="0"/>
                  </a:lnTo>
                  <a:lnTo>
                    <a:pt x="0" y="299604"/>
                  </a:lnTo>
                  <a:lnTo>
                    <a:pt x="180512" y="299604"/>
                  </a:lnTo>
                  <a:lnTo>
                    <a:pt x="18051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264416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3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2602391"/>
            <a:ext cx="4704790" cy="3510065"/>
            <a:chOff x="0" y="0"/>
            <a:chExt cx="6273053" cy="468008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6273053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7000" b="true">
                  <a:solidFill>
                    <a:srgbClr val="01003B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Project Timeline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397052"/>
              <a:ext cx="5679936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01003B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was accomplished during this iteration?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87065" y="1067925"/>
            <a:ext cx="3244797" cy="37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301940">
            <a:off x="-2976647" y="6044703"/>
            <a:ext cx="7092618" cy="4797189"/>
          </a:xfrm>
          <a:custGeom>
            <a:avLst/>
            <a:gdLst/>
            <a:ahLst/>
            <a:cxnLst/>
            <a:rect r="r" b="b" t="t" l="l"/>
            <a:pathLst>
              <a:path h="4797189" w="7092618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64376" y="2365227"/>
            <a:ext cx="5212706" cy="6356958"/>
          </a:xfrm>
          <a:custGeom>
            <a:avLst/>
            <a:gdLst/>
            <a:ahLst/>
            <a:cxnLst/>
            <a:rect r="r" b="b" t="t" l="l"/>
            <a:pathLst>
              <a:path h="6356958" w="5212706">
                <a:moveTo>
                  <a:pt x="0" y="0"/>
                </a:moveTo>
                <a:lnTo>
                  <a:pt x="5212706" y="0"/>
                </a:lnTo>
                <a:lnTo>
                  <a:pt x="521270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8795" y="5339972"/>
            <a:ext cx="7453913" cy="3382213"/>
          </a:xfrm>
          <a:custGeom>
            <a:avLst/>
            <a:gdLst/>
            <a:ahLst/>
            <a:cxnLst/>
            <a:rect r="r" b="b" t="t" l="l"/>
            <a:pathLst>
              <a:path h="3382213" w="7453913">
                <a:moveTo>
                  <a:pt x="0" y="0"/>
                </a:moveTo>
                <a:lnTo>
                  <a:pt x="7453913" y="0"/>
                </a:lnTo>
                <a:lnTo>
                  <a:pt x="7453913" y="3382213"/>
                </a:lnTo>
                <a:lnTo>
                  <a:pt x="0" y="3382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67691" y="467864"/>
            <a:ext cx="8882207" cy="2727909"/>
            <a:chOff x="0" y="0"/>
            <a:chExt cx="11842943" cy="36372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1842943" cy="151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83"/>
                </a:lnSpc>
              </a:pPr>
              <a:r>
                <a:rPr lang="en-US" b="true" sz="7486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PROJECT LOG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984750"/>
              <a:ext cx="7325181" cy="652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2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286" y="7463211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69958" y="485775"/>
            <a:ext cx="81153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Final Vision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80724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5589" y="2924132"/>
            <a:ext cx="904331" cy="9043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458055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5589" y="4697447"/>
            <a:ext cx="904331" cy="9043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6471142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45589" y="6588031"/>
            <a:ext cx="904331" cy="9043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783440" y="2620599"/>
            <a:ext cx="4954453" cy="141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Fully deployable system for property management companies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83440" y="4632039"/>
            <a:ext cx="4035840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mobile app version of the system for all users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83440" y="6522623"/>
            <a:ext cx="5119803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for ticket categorization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695719" y="6471142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812608" y="6588031"/>
            <a:ext cx="904331" cy="90433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50459" y="6522623"/>
            <a:ext cx="6350744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Integration-ready platforms with API’s for property management systems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695719" y="2807243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812608" y="2924132"/>
            <a:ext cx="904331" cy="90433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695719" y="4580558"/>
            <a:ext cx="1138109" cy="1138109"/>
          </a:xfrm>
          <a:custGeom>
            <a:avLst/>
            <a:gdLst/>
            <a:ahLst/>
            <a:cxnLst/>
            <a:rect r="r" b="b" t="t" l="l"/>
            <a:pathLst>
              <a:path h="1138109" w="1138109">
                <a:moveTo>
                  <a:pt x="0" y="0"/>
                </a:moveTo>
                <a:lnTo>
                  <a:pt x="1138109" y="0"/>
                </a:lnTo>
                <a:lnTo>
                  <a:pt x="1138109" y="1138109"/>
                </a:lnTo>
                <a:lnTo>
                  <a:pt x="0" y="11381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812608" y="4697447"/>
            <a:ext cx="904331" cy="90433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450459" y="2858724"/>
            <a:ext cx="6350744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 for completion time estimates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50459" y="4632039"/>
            <a:ext cx="6350744" cy="94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</a:pPr>
            <a:r>
              <a:rPr lang="en-US" sz="2718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analytics dashboard for managers and admins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15644">
            <a:off x="8227468" y="7145782"/>
            <a:ext cx="15465517" cy="5595705"/>
          </a:xfrm>
          <a:custGeom>
            <a:avLst/>
            <a:gdLst/>
            <a:ahLst/>
            <a:cxnLst/>
            <a:rect r="r" b="b" t="t" l="l"/>
            <a:pathLst>
              <a:path h="5595705" w="15465517">
                <a:moveTo>
                  <a:pt x="0" y="0"/>
                </a:moveTo>
                <a:lnTo>
                  <a:pt x="15465517" y="0"/>
                </a:lnTo>
                <a:lnTo>
                  <a:pt x="15465517" y="5595705"/>
                </a:lnTo>
                <a:lnTo>
                  <a:pt x="0" y="5595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99705">
            <a:off x="-6919734" y="-920502"/>
            <a:ext cx="15465517" cy="5595705"/>
          </a:xfrm>
          <a:custGeom>
            <a:avLst/>
            <a:gdLst/>
            <a:ahLst/>
            <a:cxnLst/>
            <a:rect r="r" b="b" t="t" l="l"/>
            <a:pathLst>
              <a:path h="5595705" w="15465517">
                <a:moveTo>
                  <a:pt x="0" y="0"/>
                </a:moveTo>
                <a:lnTo>
                  <a:pt x="15465516" y="0"/>
                </a:lnTo>
                <a:lnTo>
                  <a:pt x="15465516" y="5595706"/>
                </a:lnTo>
                <a:lnTo>
                  <a:pt x="0" y="5595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hlinkClick r:id="rId7" tooltip="https://github.com/qperkins33/Residential-Maintenance-Management-System.git"/>
          </p:cNvPr>
          <p:cNvSpPr/>
          <p:nvPr/>
        </p:nvSpPr>
        <p:spPr>
          <a:xfrm flipH="false" flipV="false" rot="0">
            <a:off x="8166400" y="7519570"/>
            <a:ext cx="1955199" cy="1955199"/>
          </a:xfrm>
          <a:custGeom>
            <a:avLst/>
            <a:gdLst/>
            <a:ahLst/>
            <a:cxnLst/>
            <a:rect r="r" b="b" t="t" l="l"/>
            <a:pathLst>
              <a:path h="1955199" w="1955199">
                <a:moveTo>
                  <a:pt x="0" y="0"/>
                </a:moveTo>
                <a:lnTo>
                  <a:pt x="1955200" y="0"/>
                </a:lnTo>
                <a:lnTo>
                  <a:pt x="1955200" y="1955199"/>
                </a:lnTo>
                <a:lnTo>
                  <a:pt x="0" y="1955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5420" y="2553960"/>
            <a:ext cx="8471818" cy="232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3"/>
              </a:lnSpc>
              <a:spcBef>
                <a:spcPct val="0"/>
              </a:spcBef>
            </a:pPr>
            <a:r>
              <a:rPr lang="en-US" sz="13652">
                <a:solidFill>
                  <a:srgbClr val="F8F8F8"/>
                </a:solidFill>
                <a:latin typeface="Be Vietnam"/>
                <a:ea typeface="Be Vietnam"/>
                <a:cs typeface="Be Vietnam"/>
                <a:sym typeface="Be Vietnam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73092" y="5371881"/>
            <a:ext cx="7141815" cy="189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F8F8F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Residential Maintenance Management System</a:t>
            </a:r>
          </a:p>
          <a:p>
            <a:pPr algn="ctr">
              <a:lnSpc>
                <a:spcPts val="3806"/>
              </a:lnSpc>
            </a:pP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F8F8F8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Iteration 4 Presentation</a:t>
            </a:r>
          </a:p>
          <a:p>
            <a:pPr algn="ctr">
              <a:lnSpc>
                <a:spcPts val="38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DAG6kNlSi5k</dc:identifier>
  <dcterms:modified xsi:type="dcterms:W3CDTF">2011-08-01T06:04:30Z</dcterms:modified>
  <cp:revision>1</cp:revision>
  <dc:title>Project Proposal Business Presentation in Dark Blue Pink Abstract Tech Style</dc:title>
</cp:coreProperties>
</file>